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A9E8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4A7A6A">
              <a:alpha val="30000"/>
            </a:srgbClr>
          </a:solidFill>
          <a:ln w="12700">
            <a:solidFill>
              <a:srgbClr val="4A7A6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274320"/>
            <a:ext cx="1828800" cy="1828800"/>
          </a:xfrm>
          <a:prstGeom prst="ellipse">
            <a:avLst/>
          </a:prstGeom>
          <a:solidFill>
            <a:srgbClr val="7A9E8E">
              <a:alpha val="45000"/>
            </a:srgbClr>
          </a:solidFill>
          <a:ln w="12700">
            <a:solidFill>
              <a:srgbClr val="7A9E8E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MindSpace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A9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Stress Analysis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SBERT + Claude AI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stress, one message at a time.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Motta Franco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Malini Anthony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0" y="4663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8880"/>
                </a:solidFill>
              </a:rPr>
              <a:t>Hackathon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371600" cy="256032"/>
          </a:xfrm>
          <a:prstGeom prst="rect">
            <a:avLst>
              <a:gd name="adj" fmla="val 14286"/>
            </a:avLst>
          </a:prstGeom>
          <a:solidFill>
            <a:srgbClr val="7A9E8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THE PROBLEM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goes undetected until it becomes a crisis.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63040"/>
            <a:ext cx="2606040" cy="64008"/>
          </a:xfrm>
          <a:prstGeom prst="rect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002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⚠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Inaccessible Support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C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care is expensive, stigmatised, and often unavailable when needed most.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46304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463040"/>
            <a:ext cx="2606040" cy="64008"/>
          </a:xfrm>
          <a:prstGeom prst="rect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6002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🔇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37560" y="2148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Suffering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60604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C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experience daily stress and anxiety with no safe, immediate outlet to turn to.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463040"/>
            <a:ext cx="26060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463040"/>
            <a:ext cx="2606040" cy="64008"/>
          </a:xfrm>
          <a:prstGeom prst="rect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16002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172200" y="2148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Late to Act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2606040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C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escalates invisibly — support only arrives after a crisis has already developed.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A9E8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371600" cy="256032"/>
          </a:xfrm>
          <a:prstGeom prst="rect">
            <a:avLst>
              <a:gd name="adj" fmla="val 14286"/>
            </a:avLst>
          </a:prstGeom>
          <a:solidFill>
            <a:srgbClr val="7A9E8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OUR SOLUTION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MindSpace Does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347472" cy="347472"/>
          </a:xfrm>
          <a:prstGeom prst="ellipse">
            <a:avLst/>
          </a:prstGeom>
          <a:solidFill>
            <a:srgbClr val="7A9E8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Detection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6276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messages using SBERT embeddings to detect stress levels per message.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347472" cy="347472"/>
          </a:xfrm>
          <a:prstGeom prst="ellipse">
            <a:avLst/>
          </a:prstGeom>
          <a:solidFill>
            <a:srgbClr val="7A9E8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0" y="2240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User-Level Scoring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4963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messages to compute stress scores from 0–100 per user.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154680"/>
            <a:ext cx="347472" cy="347472"/>
          </a:xfrm>
          <a:prstGeom prst="ellipse">
            <a:avLst/>
          </a:prstGeom>
          <a:solidFill>
            <a:srgbClr val="7A9E8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14400" y="31089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Labels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3649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users as Mild (Yellow), Moderate (Orange), or High (Red) stress.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4023360"/>
            <a:ext cx="347472" cy="347472"/>
          </a:xfrm>
          <a:prstGeom prst="ellipse">
            <a:avLst/>
          </a:prstGeom>
          <a:solidFill>
            <a:srgbClr val="7A9E8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023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14400" y="39776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Claude-Ready Prompts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2336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context-aware prompts with recent key messages for AI therapeutic responses.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12080" y="1280160"/>
            <a:ext cx="3566160" cy="3566160"/>
          </a:xfrm>
          <a:prstGeom prst="rect">
            <a:avLst/>
          </a:prstGeom>
          <a:solidFill>
            <a:srgbClr val="EAF2EE"/>
          </a:solidFill>
          <a:ln w="12700">
            <a:solidFill>
              <a:srgbClr val="C8DD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0" y="1417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Levels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394960" y="1920240"/>
            <a:ext cx="109728" cy="59436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1920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77840" y="2194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0–40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0" y="2057400"/>
            <a:ext cx="1691640" cy="201168"/>
          </a:xfrm>
          <a:prstGeom prst="rect">
            <a:avLst/>
          </a:prstGeom>
          <a:solidFill>
            <a:srgbClr val="D9E8E0"/>
          </a:solidFill>
          <a:ln w="12700">
            <a:solidFill>
              <a:srgbClr val="D9E8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0" y="2057400"/>
            <a:ext cx="592074" cy="20116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0" y="202996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880"/>
                </a:solidFill>
              </a:rPr>
              <a:t>35%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94960" y="2788920"/>
            <a:ext cx="109728" cy="594360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77840" y="3063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41–69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58000" y="2926080"/>
            <a:ext cx="1691640" cy="201168"/>
          </a:xfrm>
          <a:prstGeom prst="rect">
            <a:avLst/>
          </a:prstGeom>
          <a:solidFill>
            <a:srgbClr val="D9E8E0"/>
          </a:solidFill>
          <a:ln w="12700">
            <a:solidFill>
              <a:srgbClr val="D9E8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58000" y="2926080"/>
            <a:ext cx="1014984" cy="201168"/>
          </a:xfrm>
          <a:prstGeom prst="rect">
            <a:avLst/>
          </a:prstGeom>
          <a:solidFill>
            <a:srgbClr val="E8833A"/>
          </a:solidFill>
          <a:ln w="12700">
            <a:solidFill>
              <a:srgbClr val="E883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0" y="28986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880"/>
                </a:solidFill>
              </a:rPr>
              <a:t>60%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394960" y="3657600"/>
            <a:ext cx="109728" cy="594360"/>
          </a:xfrm>
          <a:prstGeom prst="rect">
            <a:avLst/>
          </a:prstGeom>
          <a:solidFill>
            <a:srgbClr val="C0443A"/>
          </a:solidFill>
          <a:ln w="12700">
            <a:solidFill>
              <a:srgbClr val="C044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0" y="3657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577840" y="3931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70–100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58000" y="3794760"/>
            <a:ext cx="1691640" cy="201168"/>
          </a:xfrm>
          <a:prstGeom prst="rect">
            <a:avLst/>
          </a:prstGeom>
          <a:solidFill>
            <a:srgbClr val="D9E8E0"/>
          </a:solidFill>
          <a:ln w="12700">
            <a:solidFill>
              <a:srgbClr val="D9E8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0" y="3794760"/>
            <a:ext cx="1437894" cy="201168"/>
          </a:xfrm>
          <a:prstGeom prst="rect">
            <a:avLst/>
          </a:prstGeom>
          <a:solidFill>
            <a:srgbClr val="C0443A"/>
          </a:solidFill>
          <a:ln w="12700">
            <a:solidFill>
              <a:srgbClr val="C0443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03920" y="37673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8880"/>
                </a:solidFill>
              </a:rPr>
              <a:t>85%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A9E8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371600" cy="256032"/>
          </a:xfrm>
          <a:prstGeom prst="rect">
            <a:avLst>
              <a:gd name="adj" fmla="val 14286"/>
            </a:avLst>
          </a:prstGeom>
          <a:solidFill>
            <a:srgbClr val="7A9E8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ARCHITECTURE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Built It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508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AE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1508760" cy="54864"/>
          </a:xfrm>
          <a:prstGeom prst="rect">
            <a:avLst/>
          </a:prstGeom>
          <a:solidFill>
            <a:srgbClr val="7A9E8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EAF2E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A6A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3192" y="22402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" y="2670048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stressed + synthetic normal user messages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0" y="2697480"/>
            <a:ext cx="201168" cy="0"/>
          </a:xfrm>
          <a:prstGeom prst="line">
            <a:avLst/>
          </a:prstGeom>
          <a:noFill/>
          <a:ln w="19050">
            <a:solidFill>
              <a:srgbClr val="7A9E8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29968" y="1417320"/>
            <a:ext cx="1508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AE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29968" y="1417320"/>
            <a:ext cx="1508760" cy="54864"/>
          </a:xfrm>
          <a:prstGeom prst="rect">
            <a:avLst/>
          </a:prstGeom>
          <a:solidFill>
            <a:srgbClr val="7A9E8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32888" y="1600200"/>
            <a:ext cx="502920" cy="502920"/>
          </a:xfrm>
          <a:prstGeom prst="ellipse">
            <a:avLst/>
          </a:prstGeom>
          <a:solidFill>
            <a:srgbClr val="EAF2E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288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A6A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03120" y="22402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SBERT Scoring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03120" y="2670048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Dual-anchor: Calm vs Stressed per message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38728" y="2697480"/>
            <a:ext cx="201168" cy="0"/>
          </a:xfrm>
          <a:prstGeom prst="line">
            <a:avLst/>
          </a:prstGeom>
          <a:noFill/>
          <a:ln w="19050">
            <a:solidFill>
              <a:srgbClr val="7A9E8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39896" y="1417320"/>
            <a:ext cx="1508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AE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39896" y="1417320"/>
            <a:ext cx="1508760" cy="54864"/>
          </a:xfrm>
          <a:prstGeom prst="rect">
            <a:avLst/>
          </a:prstGeom>
          <a:solidFill>
            <a:srgbClr val="7A9E8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42816" y="1600200"/>
            <a:ext cx="502920" cy="502920"/>
          </a:xfrm>
          <a:prstGeom prst="ellipse">
            <a:avLst/>
          </a:prstGeom>
          <a:solidFill>
            <a:srgbClr val="EAF2E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42816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A6A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13048" y="22402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13048" y="2670048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 per user → 0–100 scale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48656" y="2697480"/>
            <a:ext cx="201168" cy="0"/>
          </a:xfrm>
          <a:prstGeom prst="line">
            <a:avLst/>
          </a:prstGeom>
          <a:noFill/>
          <a:ln w="19050">
            <a:solidFill>
              <a:srgbClr val="7A9E8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49824" y="1417320"/>
            <a:ext cx="1508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AE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49824" y="1417320"/>
            <a:ext cx="1508760" cy="54864"/>
          </a:xfrm>
          <a:prstGeom prst="rect">
            <a:avLst/>
          </a:prstGeom>
          <a:solidFill>
            <a:srgbClr val="7A9E8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52744" y="1600200"/>
            <a:ext cx="502920" cy="502920"/>
          </a:xfrm>
          <a:prstGeom prst="ellipse">
            <a:avLst/>
          </a:prstGeom>
          <a:solidFill>
            <a:srgbClr val="EAF2E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52744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A6A"/>
                </a:solidFill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522976" y="22402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Build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22976" y="2670048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info + score + label + recent messages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58584" y="2697480"/>
            <a:ext cx="201168" cy="0"/>
          </a:xfrm>
          <a:prstGeom prst="line">
            <a:avLst/>
          </a:prstGeom>
          <a:noFill/>
          <a:ln w="19050">
            <a:solidFill>
              <a:srgbClr val="7A9E8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59752" y="1417320"/>
            <a:ext cx="1508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AE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59752" y="1417320"/>
            <a:ext cx="1508760" cy="54864"/>
          </a:xfrm>
          <a:prstGeom prst="rect">
            <a:avLst/>
          </a:prstGeom>
          <a:solidFill>
            <a:srgbClr val="7A9E8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62672" y="1600200"/>
            <a:ext cx="502920" cy="502920"/>
          </a:xfrm>
          <a:prstGeom prst="ellipse">
            <a:avLst/>
          </a:prstGeom>
          <a:solidFill>
            <a:srgbClr val="EAF2E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62672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7A6A"/>
                </a:solidFill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32904" y="22402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232904" y="2670048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Empathetic context-aware therapeutic response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solidFill>
            <a:srgbClr val="EAF2EE"/>
          </a:solidFill>
          <a:ln w="12700">
            <a:solidFill>
              <a:srgbClr val="C8DDD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27939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Python · SBERT (sentence-transformers) · Anthropic Claude API · HTML/CSS/JavaScript · Live chat UI with real-time stress tracking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371600" cy="256032"/>
          </a:xfrm>
          <a:prstGeom prst="rect">
            <a:avLst>
              <a:gd name="adj" fmla="val 14286"/>
            </a:avLst>
          </a:prstGeom>
          <a:solidFill>
            <a:srgbClr val="7A9E8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REFLECTION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What We Learned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3931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0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3931920" cy="54864"/>
          </a:xfrm>
          <a:prstGeom prst="rect">
            <a:avLst/>
          </a:prstGeom>
          <a:solidFill>
            <a:srgbClr val="D4856A"/>
          </a:solidFill>
          <a:ln w="12700">
            <a:solidFill>
              <a:srgbClr val="D485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447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8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SBERT sometimes misclassified normal users as stressed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session history created very long prompts for Claude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Balancing prompt compactness vs context richness was tricky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931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325880"/>
            <a:ext cx="3931920" cy="54864"/>
          </a:xfrm>
          <a:prstGeom prst="rect">
            <a:avLst/>
          </a:prstGeom>
          <a:solidFill>
            <a:srgbClr val="7A9E8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4447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8745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SBERT embeddings are highly effective for semantic stress detection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Focusing on recent top-stress messages improves AI reasoning quality</a:t>
            </a:r>
            <a:endParaRPr lang="en-US" sz="1200" dirty="0"/>
          </a:p>
          <a:p>
            <a:pPr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and user-level aggregation are key for interpretable results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A9E8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371600" cy="256032"/>
          </a:xfrm>
          <a:prstGeom prst="rect">
            <a:avLst>
              <a:gd name="adj" fmla="val 14286"/>
            </a:avLst>
          </a:prstGeom>
          <a:solidFill>
            <a:srgbClr val="7A9E8E"/>
          </a:solidFill>
          <a:ln w="12700">
            <a:solidFill>
              <a:srgbClr val="7A9E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IMPACT &amp; FUTURE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C3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Proud Of &amp; What's Next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Accomplishments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raw messages → stress scores → Claude prompts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Dual-anchor SBERT scoring for improved classification accuracy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Color-coded, concise prompts ready for AI therapeutic analysis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 patient-facing chat UI with real-time stress tracking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aggregated and scaled scores across multiple users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0" cy="3474720"/>
          </a:xfrm>
          <a:prstGeom prst="line">
            <a:avLst/>
          </a:prstGeom>
          <a:noFill/>
          <a:ln w="12700">
            <a:solidFill>
              <a:srgbClr val="D0E4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325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69164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include neutral/positive anchors for richer scoring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 monitoring for live stress detection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therapist dashboard with color-coded visualizations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AI-recommended actions based on stress patterns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3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support full multi-patient therapist monitoring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3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4A7A6A">
              <a:alpha val="25000"/>
            </a:srgbClr>
          </a:solidFill>
          <a:ln w="12700">
            <a:solidFill>
              <a:srgbClr val="4A7A6A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7A9E8E">
              <a:alpha val="20000"/>
            </a:srgbClr>
          </a:solidFill>
          <a:ln w="12700">
            <a:solidFill>
              <a:srgbClr val="7A9E8E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MindSpace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8C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stress, one message at a time.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2700">
            <a:solidFill>
              <a:srgbClr val="7A9E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care for mental health · Hackathon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MindSpace — Mental Health Stress Analysis</dc:title>
  <dc:subject>PptxGenJS Presentation</dc:subject>
  <dc:creator>PptxGenJS</dc:creator>
  <cp:lastModifiedBy>PptxGenJS</cp:lastModifiedBy>
  <cp:revision>1</cp:revision>
  <dcterms:created xsi:type="dcterms:W3CDTF">2026-03-22T02:12:53Z</dcterms:created>
  <dcterms:modified xsi:type="dcterms:W3CDTF">2026-03-22T02:12:53Z</dcterms:modified>
</cp:coreProperties>
</file>